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633472" cy="42245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nel A background"/>
          <p:cNvSpPr/>
          <p:nvPr/>
        </p:nvSpPr>
        <p:spPr>
          <a:xfrm>
            <a:off x="36576" y="64008"/>
            <a:ext cx="2560320" cy="4096512"/>
          </a:xfrm>
          <a:prstGeom prst="roundRect">
            <a:avLst/>
          </a:prstGeom>
          <a:solidFill>
            <a:srgbClr val="FFD99A"/>
          </a:solidFill>
          <a:ln w="15240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nel label A"/>
          <p:cNvSpPr/>
          <p:nvPr/>
        </p:nvSpPr>
        <p:spPr>
          <a:xfrm>
            <a:off x="128016" y="155448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80808"/>
                </a:solidFill>
                <a:latin typeface="Arial"/>
              </a:rPr>
              <a:t>A</a:t>
            </a:r>
          </a:p>
        </p:txBody>
      </p:sp>
      <p:sp>
        <p:nvSpPr>
          <p:cNvPr id="4" name="Panel A title"/>
          <p:cNvSpPr txBox="1"/>
          <p:nvPr/>
        </p:nvSpPr>
        <p:spPr>
          <a:xfrm>
            <a:off x="429768" y="155448"/>
            <a:ext cx="2039112" cy="182880"/>
          </a:xfrm>
          <a:prstGeom prst="rect">
            <a:avLst/>
          </a:prstGeom>
          <a:noFill/>
        </p:spPr>
        <p:txBody>
          <a:bodyPr wrap="square" anchor="ctr" lIns="9144" rIns="9144" tIns="9144" bIns="9144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80808"/>
                </a:solidFill>
                <a:latin typeface="Arial"/>
              </a:rPr>
              <a:t>FIVE-PAPER KNOWLEDGE GRAPH</a:t>
            </a:r>
          </a:p>
        </p:txBody>
      </p:sp>
      <p:sp>
        <p:nvSpPr>
          <p:cNvPr id="5" name="Panel A subtitle"/>
          <p:cNvSpPr txBox="1"/>
          <p:nvPr/>
        </p:nvSpPr>
        <p:spPr>
          <a:xfrm>
            <a:off x="429768" y="347472"/>
            <a:ext cx="1920240" cy="146304"/>
          </a:xfrm>
          <a:prstGeom prst="rect">
            <a:avLst/>
          </a:prstGeom>
          <a:noFill/>
        </p:spPr>
        <p:txBody>
          <a:bodyPr wrap="square" anchor="ctr" lIns="9144" rIns="9144" tIns="9144" bIns="9144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3546E"/>
                </a:solidFill>
                <a:latin typeface="Arial"/>
              </a:rPr>
              <a:t>Exact evidence-linked paths</a:t>
            </a:r>
          </a:p>
        </p:txBody>
      </p:sp>
      <p:sp>
        <p:nvSpPr>
          <p:cNvPr id="6" name="Column Paper"/>
          <p:cNvSpPr txBox="1"/>
          <p:nvPr/>
        </p:nvSpPr>
        <p:spPr>
          <a:xfrm>
            <a:off x="64008" y="585215"/>
            <a:ext cx="475488" cy="146304"/>
          </a:xfrm>
          <a:prstGeom prst="rect">
            <a:avLst/>
          </a:prstGeom>
          <a:noFill/>
        </p:spPr>
        <p:txBody>
          <a:bodyPr wrap="square" anchor="ctr" lIns="9144" rIns="9144" tIns="9144" bIns="9144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080808"/>
                </a:solidFill>
                <a:latin typeface="Arial"/>
              </a:rPr>
              <a:t>Paper</a:t>
            </a:r>
          </a:p>
        </p:txBody>
      </p:sp>
      <p:sp>
        <p:nvSpPr>
          <p:cNvPr id="7" name="Column Claim"/>
          <p:cNvSpPr txBox="1"/>
          <p:nvPr/>
        </p:nvSpPr>
        <p:spPr>
          <a:xfrm>
            <a:off x="594360" y="585215"/>
            <a:ext cx="274320" cy="146304"/>
          </a:xfrm>
          <a:prstGeom prst="rect">
            <a:avLst/>
          </a:prstGeom>
          <a:noFill/>
        </p:spPr>
        <p:txBody>
          <a:bodyPr wrap="square" anchor="ctr" lIns="9144" rIns="9144" tIns="9144" bIns="9144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080808"/>
                </a:solidFill>
                <a:latin typeface="Arial"/>
              </a:rPr>
              <a:t>Claim</a:t>
            </a:r>
          </a:p>
        </p:txBody>
      </p:sp>
      <p:sp>
        <p:nvSpPr>
          <p:cNvPr id="8" name="Column Subject"/>
          <p:cNvSpPr txBox="1"/>
          <p:nvPr/>
        </p:nvSpPr>
        <p:spPr>
          <a:xfrm>
            <a:off x="914400" y="585215"/>
            <a:ext cx="713232" cy="146304"/>
          </a:xfrm>
          <a:prstGeom prst="rect">
            <a:avLst/>
          </a:prstGeom>
          <a:noFill/>
        </p:spPr>
        <p:txBody>
          <a:bodyPr wrap="square" anchor="ctr" lIns="9144" rIns="9144" tIns="9144" bIns="9144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080808"/>
                </a:solidFill>
                <a:latin typeface="Arial"/>
              </a:rPr>
              <a:t>Subject</a:t>
            </a:r>
          </a:p>
        </p:txBody>
      </p:sp>
      <p:sp>
        <p:nvSpPr>
          <p:cNvPr id="9" name="Column Object"/>
          <p:cNvSpPr txBox="1"/>
          <p:nvPr/>
        </p:nvSpPr>
        <p:spPr>
          <a:xfrm>
            <a:off x="2002536" y="585215"/>
            <a:ext cx="530352" cy="146304"/>
          </a:xfrm>
          <a:prstGeom prst="rect">
            <a:avLst/>
          </a:prstGeom>
          <a:noFill/>
        </p:spPr>
        <p:txBody>
          <a:bodyPr wrap="square" anchor="ctr" lIns="9144" rIns="9144" tIns="9144" bIns="9144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080808"/>
                </a:solidFill>
                <a:latin typeface="Arial"/>
              </a:rPr>
              <a:t>Object</a:t>
            </a:r>
          </a:p>
        </p:txBody>
      </p:sp>
      <p:cxnSp>
        <p:nvCxnSpPr>
          <p:cNvPr id="10" name="Row separator 1"/>
          <p:cNvCxnSpPr/>
          <p:nvPr/>
        </p:nvCxnSpPr>
        <p:spPr>
          <a:xfrm>
            <a:off x="73152" y="1216152"/>
            <a:ext cx="2487168" cy="0"/>
          </a:xfrm>
          <a:prstGeom prst="line">
            <a:avLst/>
          </a:prstGeom>
          <a:ln w="101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ow separator 2"/>
          <p:cNvCxnSpPr/>
          <p:nvPr/>
        </p:nvCxnSpPr>
        <p:spPr>
          <a:xfrm>
            <a:off x="73152" y="1783080"/>
            <a:ext cx="2487168" cy="0"/>
          </a:xfrm>
          <a:prstGeom prst="line">
            <a:avLst/>
          </a:prstGeom>
          <a:ln w="101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ow separator 3"/>
          <p:cNvCxnSpPr/>
          <p:nvPr/>
        </p:nvCxnSpPr>
        <p:spPr>
          <a:xfrm>
            <a:off x="73152" y="2350008"/>
            <a:ext cx="2487168" cy="0"/>
          </a:xfrm>
          <a:prstGeom prst="line">
            <a:avLst/>
          </a:prstGeom>
          <a:ln w="101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ow separator 4"/>
          <p:cNvCxnSpPr/>
          <p:nvPr/>
        </p:nvCxnSpPr>
        <p:spPr>
          <a:xfrm>
            <a:off x="73152" y="2916936"/>
            <a:ext cx="2487168" cy="0"/>
          </a:xfrm>
          <a:prstGeom prst="line">
            <a:avLst/>
          </a:prstGeom>
          <a:ln w="101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P1 REPORTS_CLAIM"/>
          <p:cNvCxnSpPr/>
          <p:nvPr/>
        </p:nvCxnSpPr>
        <p:spPr>
          <a:xfrm>
            <a:off x="521207" y="932688"/>
            <a:ext cx="100585" cy="0"/>
          </a:xfrm>
          <a:prstGeom prst="line">
            <a:avLst/>
          </a:prstGeom>
          <a:ln w="10160">
            <a:solidFill>
              <a:srgbClr val="08080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1 HAS_SUBJECT"/>
          <p:cNvCxnSpPr/>
          <p:nvPr/>
        </p:nvCxnSpPr>
        <p:spPr>
          <a:xfrm>
            <a:off x="813816" y="932688"/>
            <a:ext cx="100584" cy="0"/>
          </a:xfrm>
          <a:prstGeom prst="line">
            <a:avLst/>
          </a:prstGeom>
          <a:ln w="10160">
            <a:solidFill>
              <a:srgbClr val="08080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P1 DIRECTIONAL_RELATION IMPROVES"/>
          <p:cNvCxnSpPr/>
          <p:nvPr/>
        </p:nvCxnSpPr>
        <p:spPr>
          <a:xfrm>
            <a:off x="1627632" y="932688"/>
            <a:ext cx="384048" cy="0"/>
          </a:xfrm>
          <a:prstGeom prst="line">
            <a:avLst/>
          </a:prstGeom>
          <a:ln w="15875">
            <a:solidFill>
              <a:srgbClr val="B653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1 HAS_OBJECT segment 1"/>
          <p:cNvCxnSpPr/>
          <p:nvPr/>
        </p:nvCxnSpPr>
        <p:spPr>
          <a:xfrm>
            <a:off x="768096" y="1005840"/>
            <a:ext cx="118872" cy="150876"/>
          </a:xfrm>
          <a:prstGeom prst="line">
            <a:avLst/>
          </a:prstGeom>
          <a:ln w="6985">
            <a:solidFill>
              <a:srgbClr val="6872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1 HAS_OBJECT segment 2"/>
          <p:cNvCxnSpPr/>
          <p:nvPr/>
        </p:nvCxnSpPr>
        <p:spPr>
          <a:xfrm>
            <a:off x="886968" y="1156716"/>
            <a:ext cx="1042416" cy="0"/>
          </a:xfrm>
          <a:prstGeom prst="line">
            <a:avLst/>
          </a:prstGeom>
          <a:ln w="6985">
            <a:solidFill>
              <a:srgbClr val="6872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1 HAS_OBJECT segment 3"/>
          <p:cNvCxnSpPr/>
          <p:nvPr/>
        </p:nvCxnSpPr>
        <p:spPr>
          <a:xfrm flipV="1">
            <a:off x="1929384" y="1033272"/>
            <a:ext cx="82296" cy="123444"/>
          </a:xfrm>
          <a:prstGeom prst="line">
            <a:avLst/>
          </a:prstGeom>
          <a:ln w="6985">
            <a:solidFill>
              <a:srgbClr val="68727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1 SUPPORTED_BY"/>
          <p:cNvCxnSpPr/>
          <p:nvPr/>
        </p:nvCxnSpPr>
        <p:spPr>
          <a:xfrm flipV="1">
            <a:off x="717804" y="731520"/>
            <a:ext cx="0" cy="96012"/>
          </a:xfrm>
          <a:prstGeom prst="line">
            <a:avLst/>
          </a:prstGeom>
          <a:ln w="8890">
            <a:solidFill>
              <a:srgbClr val="33546E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1 Paper node"/>
          <p:cNvSpPr/>
          <p:nvPr/>
        </p:nvSpPr>
        <p:spPr>
          <a:xfrm>
            <a:off x="82296" y="749808"/>
            <a:ext cx="438912" cy="3657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080808"/>
                </a:solidFill>
                <a:latin typeface="Arial"/>
              </a:rPr>
              <a:t>P1  2024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080808"/>
                </a:solidFill>
                <a:latin typeface="Arial"/>
              </a:rPr>
              <a:t>L-EGT</a:t>
            </a:r>
          </a:p>
        </p:txBody>
      </p:sp>
      <p:sp>
        <p:nvSpPr>
          <p:cNvPr id="22" name="C1 ScientificClaim node"/>
          <p:cNvSpPr/>
          <p:nvPr/>
        </p:nvSpPr>
        <p:spPr>
          <a:xfrm>
            <a:off x="621792" y="827532"/>
            <a:ext cx="192024" cy="210312"/>
          </a:xfrm>
          <a:prstGeom prst="ellipse">
            <a:avLst/>
          </a:prstGeom>
          <a:solidFill>
            <a:srgbClr val="FFF5E3"/>
          </a:solidFill>
          <a:ln w="11430">
            <a:solidFill>
              <a:srgbClr val="B6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50" b="1" i="0">
                <a:solidFill>
                  <a:srgbClr val="080808"/>
                </a:solidFill>
                <a:latin typeface="Arial"/>
              </a:rPr>
              <a:t>C1</a:t>
            </a:r>
          </a:p>
        </p:txBody>
      </p:sp>
      <p:sp>
        <p:nvSpPr>
          <p:cNvPr id="23" name="P1 Evidence node"/>
          <p:cNvSpPr/>
          <p:nvPr/>
        </p:nvSpPr>
        <p:spPr>
          <a:xfrm>
            <a:off x="672084" y="672084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5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P1 Subject ScientificEntity node"/>
          <p:cNvSpPr/>
          <p:nvPr/>
        </p:nvSpPr>
        <p:spPr>
          <a:xfrm>
            <a:off x="914400" y="749808"/>
            <a:ext cx="713232" cy="365760"/>
          </a:xfrm>
          <a:prstGeom prst="roundRect">
            <a:avLst/>
          </a:prstGeom>
          <a:solidFill>
            <a:srgbClr val="FFF9EF"/>
          </a:solidFill>
          <a:ln w="11430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080808"/>
                </a:solidFill>
                <a:latin typeface="Arial"/>
              </a:rPr>
              <a:t>L-EGT passivation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080808"/>
                </a:solidFill>
                <a:latin typeface="Arial"/>
              </a:rPr>
              <a:t>material</a:t>
            </a:r>
          </a:p>
        </p:txBody>
      </p:sp>
      <p:sp>
        <p:nvSpPr>
          <p:cNvPr id="25" name="P1 Object ScientificEntity node"/>
          <p:cNvSpPr/>
          <p:nvPr/>
        </p:nvSpPr>
        <p:spPr>
          <a:xfrm>
            <a:off x="2011680" y="749808"/>
            <a:ext cx="521207" cy="365760"/>
          </a:xfrm>
          <a:prstGeom prst="roundRect">
            <a:avLst/>
          </a:prstGeom>
          <a:solidFill>
            <a:srgbClr val="FFF9EF"/>
          </a:solidFill>
          <a:ln w="11430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>
                <a:solidFill>
                  <a:srgbClr val="080808"/>
                </a:solidFill>
                <a:latin typeface="Arial"/>
              </a:rPr>
              <a:t>perovskite-film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>
                <a:solidFill>
                  <a:srgbClr val="080808"/>
                </a:solidFill>
                <a:latin typeface="Arial"/>
              </a:rPr>
              <a:t>quality</a:t>
            </a:r>
          </a:p>
        </p:txBody>
      </p:sp>
      <p:sp>
        <p:nvSpPr>
          <p:cNvPr id="26" name="P1 predicate label"/>
          <p:cNvSpPr txBox="1"/>
          <p:nvPr/>
        </p:nvSpPr>
        <p:spPr>
          <a:xfrm>
            <a:off x="1627632" y="777240"/>
            <a:ext cx="384048" cy="137160"/>
          </a:xfrm>
          <a:prstGeom prst="rect">
            <a:avLst/>
          </a:prstGeom>
          <a:noFill/>
        </p:spPr>
        <p:txBody>
          <a:bodyPr wrap="square" anchor="ctr" lIns="9144" rIns="9144" tIns="9144" bIns="9144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450" b="1" i="0">
                <a:solidFill>
                  <a:srgbClr val="B65300"/>
                </a:solidFill>
                <a:latin typeface="Arial"/>
              </a:rPr>
              <a:t>IMPROVES</a:t>
            </a:r>
          </a:p>
        </p:txBody>
      </p:sp>
      <p:cxnSp>
        <p:nvCxnSpPr>
          <p:cNvPr id="27" name="P2 REPORTS_CLAIM"/>
          <p:cNvCxnSpPr/>
          <p:nvPr/>
        </p:nvCxnSpPr>
        <p:spPr>
          <a:xfrm>
            <a:off x="521207" y="1499616"/>
            <a:ext cx="100585" cy="0"/>
          </a:xfrm>
          <a:prstGeom prst="line">
            <a:avLst/>
          </a:prstGeom>
          <a:ln w="10160">
            <a:solidFill>
              <a:srgbClr val="08080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2 HAS_SUBJECT"/>
          <p:cNvCxnSpPr/>
          <p:nvPr/>
        </p:nvCxnSpPr>
        <p:spPr>
          <a:xfrm>
            <a:off x="813816" y="1499616"/>
            <a:ext cx="100584" cy="0"/>
          </a:xfrm>
          <a:prstGeom prst="line">
            <a:avLst/>
          </a:prstGeom>
          <a:ln w="10160">
            <a:solidFill>
              <a:srgbClr val="08080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P2 DIRECTIONAL_RELATION PROMOTES"/>
          <p:cNvCxnSpPr/>
          <p:nvPr/>
        </p:nvCxnSpPr>
        <p:spPr>
          <a:xfrm>
            <a:off x="1627632" y="1499616"/>
            <a:ext cx="384048" cy="0"/>
          </a:xfrm>
          <a:prstGeom prst="line">
            <a:avLst/>
          </a:prstGeom>
          <a:ln w="15875">
            <a:solidFill>
              <a:srgbClr val="B653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2 HAS_OBJECT segment 1"/>
          <p:cNvCxnSpPr/>
          <p:nvPr/>
        </p:nvCxnSpPr>
        <p:spPr>
          <a:xfrm>
            <a:off x="768096" y="1572768"/>
            <a:ext cx="118872" cy="150876"/>
          </a:xfrm>
          <a:prstGeom prst="line">
            <a:avLst/>
          </a:prstGeom>
          <a:ln w="6985">
            <a:solidFill>
              <a:srgbClr val="6872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2 HAS_OBJECT segment 2"/>
          <p:cNvCxnSpPr/>
          <p:nvPr/>
        </p:nvCxnSpPr>
        <p:spPr>
          <a:xfrm>
            <a:off x="886968" y="1723644"/>
            <a:ext cx="1042416" cy="0"/>
          </a:xfrm>
          <a:prstGeom prst="line">
            <a:avLst/>
          </a:prstGeom>
          <a:ln w="6985">
            <a:solidFill>
              <a:srgbClr val="6872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2 HAS_OBJECT segment 3"/>
          <p:cNvCxnSpPr/>
          <p:nvPr/>
        </p:nvCxnSpPr>
        <p:spPr>
          <a:xfrm flipV="1">
            <a:off x="1929384" y="1600200"/>
            <a:ext cx="82296" cy="123444"/>
          </a:xfrm>
          <a:prstGeom prst="line">
            <a:avLst/>
          </a:prstGeom>
          <a:ln w="6985">
            <a:solidFill>
              <a:srgbClr val="68727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2 SUPPORTED_BY"/>
          <p:cNvCxnSpPr/>
          <p:nvPr/>
        </p:nvCxnSpPr>
        <p:spPr>
          <a:xfrm flipV="1">
            <a:off x="717804" y="1298448"/>
            <a:ext cx="0" cy="96012"/>
          </a:xfrm>
          <a:prstGeom prst="line">
            <a:avLst/>
          </a:prstGeom>
          <a:ln w="8890">
            <a:solidFill>
              <a:srgbClr val="33546E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2 Paper node"/>
          <p:cNvSpPr/>
          <p:nvPr/>
        </p:nvSpPr>
        <p:spPr>
          <a:xfrm>
            <a:off x="82296" y="1316736"/>
            <a:ext cx="438912" cy="3657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080808"/>
                </a:solidFill>
                <a:latin typeface="Arial"/>
              </a:rPr>
              <a:t>P2  2026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080808"/>
                </a:solidFill>
                <a:latin typeface="Arial"/>
              </a:rPr>
              <a:t>Sn-Pb</a:t>
            </a:r>
          </a:p>
        </p:txBody>
      </p:sp>
      <p:sp>
        <p:nvSpPr>
          <p:cNvPr id="35" name="C2 ScientificClaim node"/>
          <p:cNvSpPr/>
          <p:nvPr/>
        </p:nvSpPr>
        <p:spPr>
          <a:xfrm>
            <a:off x="621792" y="1394460"/>
            <a:ext cx="192024" cy="210312"/>
          </a:xfrm>
          <a:prstGeom prst="ellipse">
            <a:avLst/>
          </a:prstGeom>
          <a:solidFill>
            <a:srgbClr val="FFF5E3"/>
          </a:solidFill>
          <a:ln w="11430">
            <a:solidFill>
              <a:srgbClr val="B6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50" b="1" i="0">
                <a:solidFill>
                  <a:srgbClr val="080808"/>
                </a:solidFill>
                <a:latin typeface="Arial"/>
              </a:rPr>
              <a:t>C2</a:t>
            </a:r>
          </a:p>
        </p:txBody>
      </p:sp>
      <p:sp>
        <p:nvSpPr>
          <p:cNvPr id="36" name="P2 Evidence node"/>
          <p:cNvSpPr/>
          <p:nvPr/>
        </p:nvSpPr>
        <p:spPr>
          <a:xfrm>
            <a:off x="672084" y="123901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5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7" name="P2 Subject ScientificEntity node"/>
          <p:cNvSpPr/>
          <p:nvPr/>
        </p:nvSpPr>
        <p:spPr>
          <a:xfrm>
            <a:off x="914400" y="1316736"/>
            <a:ext cx="713232" cy="365760"/>
          </a:xfrm>
          <a:prstGeom prst="roundRect">
            <a:avLst/>
          </a:prstGeom>
          <a:solidFill>
            <a:srgbClr val="FFF9EF"/>
          </a:solidFill>
          <a:ln w="11430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080808"/>
                </a:solidFill>
                <a:latin typeface="Arial"/>
              </a:rPr>
              <a:t>TLP surface polishing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080808"/>
                </a:solidFill>
                <a:latin typeface="Arial"/>
              </a:rPr>
              <a:t>reduces Sn2+ defects</a:t>
            </a:r>
          </a:p>
        </p:txBody>
      </p:sp>
      <p:sp>
        <p:nvSpPr>
          <p:cNvPr id="38" name="P2 Object ScientificEntity node"/>
          <p:cNvSpPr/>
          <p:nvPr/>
        </p:nvSpPr>
        <p:spPr>
          <a:xfrm>
            <a:off x="2011680" y="1316736"/>
            <a:ext cx="521207" cy="365760"/>
          </a:xfrm>
          <a:prstGeom prst="roundRect">
            <a:avLst/>
          </a:prstGeom>
          <a:solidFill>
            <a:srgbClr val="FFF9EF"/>
          </a:solidFill>
          <a:ln w="11430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>
                <a:solidFill>
                  <a:srgbClr val="080808"/>
                </a:solidFill>
                <a:latin typeface="Arial"/>
              </a:rPr>
              <a:t>charge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>
                <a:solidFill>
                  <a:srgbClr val="080808"/>
                </a:solidFill>
                <a:latin typeface="Arial"/>
              </a:rPr>
              <a:t>extraction</a:t>
            </a:r>
          </a:p>
        </p:txBody>
      </p:sp>
      <p:sp>
        <p:nvSpPr>
          <p:cNvPr id="39" name="P2 predicate label"/>
          <p:cNvSpPr txBox="1"/>
          <p:nvPr/>
        </p:nvSpPr>
        <p:spPr>
          <a:xfrm>
            <a:off x="1627632" y="1344168"/>
            <a:ext cx="384048" cy="137160"/>
          </a:xfrm>
          <a:prstGeom prst="rect">
            <a:avLst/>
          </a:prstGeom>
          <a:noFill/>
        </p:spPr>
        <p:txBody>
          <a:bodyPr wrap="square" anchor="ctr" lIns="9144" rIns="9144" tIns="9144" bIns="9144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450" b="1" i="0">
                <a:solidFill>
                  <a:srgbClr val="B65300"/>
                </a:solidFill>
                <a:latin typeface="Arial"/>
              </a:rPr>
              <a:t>PROMOTES</a:t>
            </a:r>
          </a:p>
        </p:txBody>
      </p:sp>
      <p:cxnSp>
        <p:nvCxnSpPr>
          <p:cNvPr id="40" name="P3 REPORTS_CLAIM"/>
          <p:cNvCxnSpPr/>
          <p:nvPr/>
        </p:nvCxnSpPr>
        <p:spPr>
          <a:xfrm>
            <a:off x="521207" y="2066543"/>
            <a:ext cx="100585" cy="0"/>
          </a:xfrm>
          <a:prstGeom prst="line">
            <a:avLst/>
          </a:prstGeom>
          <a:ln w="10160">
            <a:solidFill>
              <a:srgbClr val="08080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3 HAS_SUBJECT"/>
          <p:cNvCxnSpPr/>
          <p:nvPr/>
        </p:nvCxnSpPr>
        <p:spPr>
          <a:xfrm>
            <a:off x="813816" y="2066543"/>
            <a:ext cx="100584" cy="0"/>
          </a:xfrm>
          <a:prstGeom prst="line">
            <a:avLst/>
          </a:prstGeom>
          <a:ln w="10160">
            <a:solidFill>
              <a:srgbClr val="08080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P3 DIRECTIONAL_RELATION INCREASES"/>
          <p:cNvCxnSpPr/>
          <p:nvPr/>
        </p:nvCxnSpPr>
        <p:spPr>
          <a:xfrm>
            <a:off x="1627632" y="2066543"/>
            <a:ext cx="384048" cy="0"/>
          </a:xfrm>
          <a:prstGeom prst="line">
            <a:avLst/>
          </a:prstGeom>
          <a:ln w="15875">
            <a:solidFill>
              <a:srgbClr val="B653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3 HAS_OBJECT segment 1"/>
          <p:cNvCxnSpPr/>
          <p:nvPr/>
        </p:nvCxnSpPr>
        <p:spPr>
          <a:xfrm>
            <a:off x="768096" y="2139696"/>
            <a:ext cx="118872" cy="150876"/>
          </a:xfrm>
          <a:prstGeom prst="line">
            <a:avLst/>
          </a:prstGeom>
          <a:ln w="6985">
            <a:solidFill>
              <a:srgbClr val="6872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3 HAS_OBJECT segment 2"/>
          <p:cNvCxnSpPr/>
          <p:nvPr/>
        </p:nvCxnSpPr>
        <p:spPr>
          <a:xfrm>
            <a:off x="886968" y="2290572"/>
            <a:ext cx="1042416" cy="0"/>
          </a:xfrm>
          <a:prstGeom prst="line">
            <a:avLst/>
          </a:prstGeom>
          <a:ln w="6985">
            <a:solidFill>
              <a:srgbClr val="6872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3 HAS_OBJECT segment 3"/>
          <p:cNvCxnSpPr/>
          <p:nvPr/>
        </p:nvCxnSpPr>
        <p:spPr>
          <a:xfrm flipV="1">
            <a:off x="1929384" y="2167127"/>
            <a:ext cx="82296" cy="123445"/>
          </a:xfrm>
          <a:prstGeom prst="line">
            <a:avLst/>
          </a:prstGeom>
          <a:ln w="6985">
            <a:solidFill>
              <a:srgbClr val="68727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3 SUPPORTED_BY"/>
          <p:cNvCxnSpPr/>
          <p:nvPr/>
        </p:nvCxnSpPr>
        <p:spPr>
          <a:xfrm flipV="1">
            <a:off x="717804" y="1865375"/>
            <a:ext cx="0" cy="96012"/>
          </a:xfrm>
          <a:prstGeom prst="line">
            <a:avLst/>
          </a:prstGeom>
          <a:ln w="8890">
            <a:solidFill>
              <a:srgbClr val="33546E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P3 Paper node"/>
          <p:cNvSpPr/>
          <p:nvPr/>
        </p:nvSpPr>
        <p:spPr>
          <a:xfrm>
            <a:off x="82296" y="1883663"/>
            <a:ext cx="438912" cy="3657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080808"/>
                </a:solidFill>
                <a:latin typeface="Arial"/>
              </a:rPr>
              <a:t>P3  2021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080808"/>
                </a:solidFill>
                <a:latin typeface="Arial"/>
              </a:rPr>
              <a:t>Al2O3</a:t>
            </a:r>
          </a:p>
        </p:txBody>
      </p:sp>
      <p:sp>
        <p:nvSpPr>
          <p:cNvPr id="48" name="C3 ScientificClaim node"/>
          <p:cNvSpPr/>
          <p:nvPr/>
        </p:nvSpPr>
        <p:spPr>
          <a:xfrm>
            <a:off x="621792" y="1961387"/>
            <a:ext cx="192024" cy="210312"/>
          </a:xfrm>
          <a:prstGeom prst="ellipse">
            <a:avLst/>
          </a:prstGeom>
          <a:solidFill>
            <a:srgbClr val="FFF5E3"/>
          </a:solidFill>
          <a:ln w="11430">
            <a:solidFill>
              <a:srgbClr val="B6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50" b="1" i="0">
                <a:solidFill>
                  <a:srgbClr val="080808"/>
                </a:solidFill>
                <a:latin typeface="Arial"/>
              </a:rPr>
              <a:t>C3</a:t>
            </a:r>
          </a:p>
        </p:txBody>
      </p:sp>
      <p:sp>
        <p:nvSpPr>
          <p:cNvPr id="49" name="P3 Evidence node"/>
          <p:cNvSpPr/>
          <p:nvPr/>
        </p:nvSpPr>
        <p:spPr>
          <a:xfrm>
            <a:off x="672084" y="1805939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5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0" name="P3 Subject ScientificEntity node"/>
          <p:cNvSpPr/>
          <p:nvPr/>
        </p:nvSpPr>
        <p:spPr>
          <a:xfrm>
            <a:off x="914400" y="1883663"/>
            <a:ext cx="713232" cy="365760"/>
          </a:xfrm>
          <a:prstGeom prst="roundRect">
            <a:avLst/>
          </a:prstGeom>
          <a:solidFill>
            <a:srgbClr val="FFF9EF"/>
          </a:solidFill>
          <a:ln w="11430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080808"/>
                </a:solidFill>
                <a:latin typeface="Arial"/>
              </a:rPr>
              <a:t>electrochemical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080808"/>
                </a:solidFill>
                <a:latin typeface="Arial"/>
              </a:rPr>
              <a:t>Al2O3 incorporation</a:t>
            </a:r>
          </a:p>
        </p:txBody>
      </p:sp>
      <p:sp>
        <p:nvSpPr>
          <p:cNvPr id="51" name="P3 Object ScientificEntity node"/>
          <p:cNvSpPr/>
          <p:nvPr/>
        </p:nvSpPr>
        <p:spPr>
          <a:xfrm>
            <a:off x="2011680" y="1883663"/>
            <a:ext cx="521207" cy="365760"/>
          </a:xfrm>
          <a:prstGeom prst="roundRect">
            <a:avLst/>
          </a:prstGeom>
          <a:solidFill>
            <a:srgbClr val="FFF9EF"/>
          </a:solidFill>
          <a:ln w="11430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>
                <a:solidFill>
                  <a:srgbClr val="080808"/>
                </a:solidFill>
                <a:latin typeface="Arial"/>
              </a:rPr>
              <a:t>cell efficiency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>
                <a:solidFill>
                  <a:srgbClr val="080808"/>
                </a:solidFill>
                <a:latin typeface="Arial"/>
              </a:rPr>
              <a:t>12.1% to 14.3%</a:t>
            </a:r>
          </a:p>
        </p:txBody>
      </p:sp>
      <p:sp>
        <p:nvSpPr>
          <p:cNvPr id="52" name="P3 predicate label"/>
          <p:cNvSpPr txBox="1"/>
          <p:nvPr/>
        </p:nvSpPr>
        <p:spPr>
          <a:xfrm>
            <a:off x="1627632" y="1911095"/>
            <a:ext cx="384048" cy="137160"/>
          </a:xfrm>
          <a:prstGeom prst="rect">
            <a:avLst/>
          </a:prstGeom>
          <a:noFill/>
        </p:spPr>
        <p:txBody>
          <a:bodyPr wrap="square" anchor="ctr" lIns="9144" rIns="9144" tIns="9144" bIns="9144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450" b="1" i="0">
                <a:solidFill>
                  <a:srgbClr val="B65300"/>
                </a:solidFill>
                <a:latin typeface="Arial"/>
              </a:rPr>
              <a:t>INCREASES</a:t>
            </a:r>
          </a:p>
        </p:txBody>
      </p:sp>
      <p:cxnSp>
        <p:nvCxnSpPr>
          <p:cNvPr id="53" name="P4 REPORTS_CLAIM"/>
          <p:cNvCxnSpPr/>
          <p:nvPr/>
        </p:nvCxnSpPr>
        <p:spPr>
          <a:xfrm>
            <a:off x="521207" y="2633472"/>
            <a:ext cx="100585" cy="0"/>
          </a:xfrm>
          <a:prstGeom prst="line">
            <a:avLst/>
          </a:prstGeom>
          <a:ln w="10160">
            <a:solidFill>
              <a:srgbClr val="08080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4 HAS_SUBJECT"/>
          <p:cNvCxnSpPr/>
          <p:nvPr/>
        </p:nvCxnSpPr>
        <p:spPr>
          <a:xfrm>
            <a:off x="813816" y="2633472"/>
            <a:ext cx="100584" cy="0"/>
          </a:xfrm>
          <a:prstGeom prst="line">
            <a:avLst/>
          </a:prstGeom>
          <a:ln w="10160">
            <a:solidFill>
              <a:srgbClr val="08080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P4 DIRECTIONAL_RELATION IMPROVES"/>
          <p:cNvCxnSpPr/>
          <p:nvPr/>
        </p:nvCxnSpPr>
        <p:spPr>
          <a:xfrm>
            <a:off x="1627632" y="2633472"/>
            <a:ext cx="384048" cy="0"/>
          </a:xfrm>
          <a:prstGeom prst="line">
            <a:avLst/>
          </a:prstGeom>
          <a:ln w="15875">
            <a:solidFill>
              <a:srgbClr val="B653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4 HAS_OBJECT segment 1"/>
          <p:cNvCxnSpPr/>
          <p:nvPr/>
        </p:nvCxnSpPr>
        <p:spPr>
          <a:xfrm>
            <a:off x="768096" y="2706624"/>
            <a:ext cx="118872" cy="150876"/>
          </a:xfrm>
          <a:prstGeom prst="line">
            <a:avLst/>
          </a:prstGeom>
          <a:ln w="6985">
            <a:solidFill>
              <a:srgbClr val="6872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4 HAS_OBJECT segment 2"/>
          <p:cNvCxnSpPr/>
          <p:nvPr/>
        </p:nvCxnSpPr>
        <p:spPr>
          <a:xfrm>
            <a:off x="886968" y="2857500"/>
            <a:ext cx="1042416" cy="0"/>
          </a:xfrm>
          <a:prstGeom prst="line">
            <a:avLst/>
          </a:prstGeom>
          <a:ln w="6985">
            <a:solidFill>
              <a:srgbClr val="6872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4 HAS_OBJECT segment 3"/>
          <p:cNvCxnSpPr/>
          <p:nvPr/>
        </p:nvCxnSpPr>
        <p:spPr>
          <a:xfrm flipV="1">
            <a:off x="1929384" y="2734056"/>
            <a:ext cx="82296" cy="123444"/>
          </a:xfrm>
          <a:prstGeom prst="line">
            <a:avLst/>
          </a:prstGeom>
          <a:ln w="6985">
            <a:solidFill>
              <a:srgbClr val="68727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4 SUPPORTED_BY"/>
          <p:cNvCxnSpPr/>
          <p:nvPr/>
        </p:nvCxnSpPr>
        <p:spPr>
          <a:xfrm flipV="1">
            <a:off x="717804" y="2432303"/>
            <a:ext cx="0" cy="96012"/>
          </a:xfrm>
          <a:prstGeom prst="line">
            <a:avLst/>
          </a:prstGeom>
          <a:ln w="8890">
            <a:solidFill>
              <a:srgbClr val="33546E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P4 Paper node"/>
          <p:cNvSpPr/>
          <p:nvPr/>
        </p:nvSpPr>
        <p:spPr>
          <a:xfrm>
            <a:off x="82296" y="2450591"/>
            <a:ext cx="438912" cy="3657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080808"/>
                </a:solidFill>
                <a:latin typeface="Arial"/>
              </a:rPr>
              <a:t>P4  2023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080808"/>
                </a:solidFill>
                <a:latin typeface="Arial"/>
              </a:rPr>
              <a:t>MDACl2</a:t>
            </a:r>
          </a:p>
        </p:txBody>
      </p:sp>
      <p:sp>
        <p:nvSpPr>
          <p:cNvPr id="61" name="C4 ScientificClaim node"/>
          <p:cNvSpPr/>
          <p:nvPr/>
        </p:nvSpPr>
        <p:spPr>
          <a:xfrm>
            <a:off x="621792" y="2528315"/>
            <a:ext cx="192024" cy="210312"/>
          </a:xfrm>
          <a:prstGeom prst="ellipse">
            <a:avLst/>
          </a:prstGeom>
          <a:solidFill>
            <a:srgbClr val="FFF5E3"/>
          </a:solidFill>
          <a:ln w="11430">
            <a:solidFill>
              <a:srgbClr val="B6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50" b="1" i="0">
                <a:solidFill>
                  <a:srgbClr val="080808"/>
                </a:solidFill>
                <a:latin typeface="Arial"/>
              </a:rPr>
              <a:t>C4</a:t>
            </a:r>
          </a:p>
        </p:txBody>
      </p:sp>
      <p:sp>
        <p:nvSpPr>
          <p:cNvPr id="62" name="P4 Evidence node"/>
          <p:cNvSpPr/>
          <p:nvPr/>
        </p:nvSpPr>
        <p:spPr>
          <a:xfrm>
            <a:off x="672084" y="2372868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5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3" name="P4 Subject ScientificEntity node"/>
          <p:cNvSpPr/>
          <p:nvPr/>
        </p:nvSpPr>
        <p:spPr>
          <a:xfrm>
            <a:off x="914400" y="2450591"/>
            <a:ext cx="713232" cy="365760"/>
          </a:xfrm>
          <a:prstGeom prst="roundRect">
            <a:avLst/>
          </a:prstGeom>
          <a:solidFill>
            <a:srgbClr val="FFF9EF"/>
          </a:solidFill>
          <a:ln w="11430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080808"/>
                </a:solidFill>
                <a:latin typeface="Arial"/>
              </a:rPr>
              <a:t>MDACl2 modification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080808"/>
                </a:solidFill>
                <a:latin typeface="Arial"/>
              </a:rPr>
              <a:t>/ high-quality films</a:t>
            </a:r>
          </a:p>
        </p:txBody>
      </p:sp>
      <p:sp>
        <p:nvSpPr>
          <p:cNvPr id="64" name="P4 Object ScientificEntity node"/>
          <p:cNvSpPr/>
          <p:nvPr/>
        </p:nvSpPr>
        <p:spPr>
          <a:xfrm>
            <a:off x="2011680" y="2450591"/>
            <a:ext cx="521207" cy="365760"/>
          </a:xfrm>
          <a:prstGeom prst="roundRect">
            <a:avLst/>
          </a:prstGeom>
          <a:solidFill>
            <a:srgbClr val="FFF9EF"/>
          </a:solidFill>
          <a:ln w="11430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>
                <a:solidFill>
                  <a:srgbClr val="080808"/>
                </a:solidFill>
                <a:latin typeface="Arial"/>
              </a:rPr>
              <a:t>crystallinity;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>
                <a:solidFill>
                  <a:srgbClr val="080808"/>
                </a:solidFill>
                <a:latin typeface="Arial"/>
              </a:rPr>
              <a:t>lower defect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>
                <a:solidFill>
                  <a:srgbClr val="080808"/>
                </a:solidFill>
                <a:latin typeface="Arial"/>
              </a:rPr>
              <a:t>density</a:t>
            </a:r>
          </a:p>
        </p:txBody>
      </p:sp>
      <p:sp>
        <p:nvSpPr>
          <p:cNvPr id="65" name="P4 predicate label"/>
          <p:cNvSpPr txBox="1"/>
          <p:nvPr/>
        </p:nvSpPr>
        <p:spPr>
          <a:xfrm>
            <a:off x="1627632" y="2478024"/>
            <a:ext cx="384048" cy="137160"/>
          </a:xfrm>
          <a:prstGeom prst="rect">
            <a:avLst/>
          </a:prstGeom>
          <a:noFill/>
        </p:spPr>
        <p:txBody>
          <a:bodyPr wrap="square" anchor="ctr" lIns="9144" rIns="9144" tIns="9144" bIns="9144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450" b="1" i="0">
                <a:solidFill>
                  <a:srgbClr val="B65300"/>
                </a:solidFill>
                <a:latin typeface="Arial"/>
              </a:rPr>
              <a:t>IMPROVES</a:t>
            </a:r>
          </a:p>
        </p:txBody>
      </p:sp>
      <p:cxnSp>
        <p:nvCxnSpPr>
          <p:cNvPr id="66" name="P5 REPORTS_CLAIM"/>
          <p:cNvCxnSpPr/>
          <p:nvPr/>
        </p:nvCxnSpPr>
        <p:spPr>
          <a:xfrm>
            <a:off x="521207" y="3200400"/>
            <a:ext cx="100585" cy="0"/>
          </a:xfrm>
          <a:prstGeom prst="line">
            <a:avLst/>
          </a:prstGeom>
          <a:ln w="10160">
            <a:solidFill>
              <a:srgbClr val="08080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5 HAS_SUBJECT"/>
          <p:cNvCxnSpPr/>
          <p:nvPr/>
        </p:nvCxnSpPr>
        <p:spPr>
          <a:xfrm>
            <a:off x="813816" y="3200400"/>
            <a:ext cx="100584" cy="0"/>
          </a:xfrm>
          <a:prstGeom prst="line">
            <a:avLst/>
          </a:prstGeom>
          <a:ln w="10160">
            <a:solidFill>
              <a:srgbClr val="08080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P5 DIRECTIONAL_RELATION ENHANCES"/>
          <p:cNvCxnSpPr/>
          <p:nvPr/>
        </p:nvCxnSpPr>
        <p:spPr>
          <a:xfrm>
            <a:off x="1627632" y="3200400"/>
            <a:ext cx="384048" cy="0"/>
          </a:xfrm>
          <a:prstGeom prst="line">
            <a:avLst/>
          </a:prstGeom>
          <a:ln w="15875">
            <a:solidFill>
              <a:srgbClr val="B653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5 HAS_OBJECT segment 1"/>
          <p:cNvCxnSpPr/>
          <p:nvPr/>
        </p:nvCxnSpPr>
        <p:spPr>
          <a:xfrm>
            <a:off x="768096" y="3273552"/>
            <a:ext cx="118872" cy="150876"/>
          </a:xfrm>
          <a:prstGeom prst="line">
            <a:avLst/>
          </a:prstGeom>
          <a:ln w="6985">
            <a:solidFill>
              <a:srgbClr val="6872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5 HAS_OBJECT segment 2"/>
          <p:cNvCxnSpPr/>
          <p:nvPr/>
        </p:nvCxnSpPr>
        <p:spPr>
          <a:xfrm>
            <a:off x="886968" y="3424428"/>
            <a:ext cx="1042416" cy="0"/>
          </a:xfrm>
          <a:prstGeom prst="line">
            <a:avLst/>
          </a:prstGeom>
          <a:ln w="6985">
            <a:solidFill>
              <a:srgbClr val="6872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5 HAS_OBJECT segment 3"/>
          <p:cNvCxnSpPr/>
          <p:nvPr/>
        </p:nvCxnSpPr>
        <p:spPr>
          <a:xfrm flipV="1">
            <a:off x="1929384" y="3300984"/>
            <a:ext cx="82296" cy="123444"/>
          </a:xfrm>
          <a:prstGeom prst="line">
            <a:avLst/>
          </a:prstGeom>
          <a:ln w="6985">
            <a:solidFill>
              <a:srgbClr val="68727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5 SUPPORTED_BY"/>
          <p:cNvCxnSpPr/>
          <p:nvPr/>
        </p:nvCxnSpPr>
        <p:spPr>
          <a:xfrm flipV="1">
            <a:off x="717804" y="2999232"/>
            <a:ext cx="0" cy="96012"/>
          </a:xfrm>
          <a:prstGeom prst="line">
            <a:avLst/>
          </a:prstGeom>
          <a:ln w="8890">
            <a:solidFill>
              <a:srgbClr val="33546E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P5 Paper node"/>
          <p:cNvSpPr/>
          <p:nvPr/>
        </p:nvSpPr>
        <p:spPr>
          <a:xfrm>
            <a:off x="82296" y="3017520"/>
            <a:ext cx="438912" cy="3657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080808"/>
                </a:solidFill>
                <a:latin typeface="Arial"/>
              </a:rPr>
              <a:t>P5  2021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080808"/>
                </a:solidFill>
                <a:latin typeface="Arial"/>
              </a:rPr>
              <a:t>Nano-conf.</a:t>
            </a:r>
          </a:p>
        </p:txBody>
      </p:sp>
      <p:sp>
        <p:nvSpPr>
          <p:cNvPr id="74" name="C5 ScientificClaim node"/>
          <p:cNvSpPr/>
          <p:nvPr/>
        </p:nvSpPr>
        <p:spPr>
          <a:xfrm>
            <a:off x="621792" y="3095244"/>
            <a:ext cx="192024" cy="210312"/>
          </a:xfrm>
          <a:prstGeom prst="ellipse">
            <a:avLst/>
          </a:prstGeom>
          <a:solidFill>
            <a:srgbClr val="FFF5E3"/>
          </a:solidFill>
          <a:ln w="11430">
            <a:solidFill>
              <a:srgbClr val="B6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50" b="1" i="0">
                <a:solidFill>
                  <a:srgbClr val="080808"/>
                </a:solidFill>
                <a:latin typeface="Arial"/>
              </a:rPr>
              <a:t>C5</a:t>
            </a:r>
          </a:p>
        </p:txBody>
      </p:sp>
      <p:sp>
        <p:nvSpPr>
          <p:cNvPr id="75" name="P5 Evidence node"/>
          <p:cNvSpPr/>
          <p:nvPr/>
        </p:nvSpPr>
        <p:spPr>
          <a:xfrm>
            <a:off x="672084" y="2939796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5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6" name="P5 Subject ScientificEntity node"/>
          <p:cNvSpPr/>
          <p:nvPr/>
        </p:nvSpPr>
        <p:spPr>
          <a:xfrm>
            <a:off x="914400" y="3017520"/>
            <a:ext cx="713232" cy="365760"/>
          </a:xfrm>
          <a:prstGeom prst="roundRect">
            <a:avLst/>
          </a:prstGeom>
          <a:solidFill>
            <a:srgbClr val="FFF9EF"/>
          </a:solidFill>
          <a:ln w="11430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080808"/>
                </a:solidFill>
                <a:latin typeface="Arial"/>
              </a:rPr>
              <a:t>crystallization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080808"/>
                </a:solidFill>
                <a:latin typeface="Arial"/>
              </a:rPr>
              <a:t>optimization</a:t>
            </a:r>
          </a:p>
        </p:txBody>
      </p:sp>
      <p:sp>
        <p:nvSpPr>
          <p:cNvPr id="77" name="P5 Object ScientificEntity node"/>
          <p:cNvSpPr/>
          <p:nvPr/>
        </p:nvSpPr>
        <p:spPr>
          <a:xfrm>
            <a:off x="2011680" y="3017520"/>
            <a:ext cx="521207" cy="365760"/>
          </a:xfrm>
          <a:prstGeom prst="roundRect">
            <a:avLst/>
          </a:prstGeom>
          <a:solidFill>
            <a:srgbClr val="FFF9EF"/>
          </a:solidFill>
          <a:ln w="11430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>
                <a:solidFill>
                  <a:srgbClr val="080808"/>
                </a:solidFill>
                <a:latin typeface="Arial"/>
              </a:rPr>
              <a:t>inorganic PSC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>
                <a:solidFill>
                  <a:srgbClr val="080808"/>
                </a:solidFill>
                <a:latin typeface="Arial"/>
              </a:rPr>
              <a:t>performance</a:t>
            </a:r>
          </a:p>
        </p:txBody>
      </p:sp>
      <p:sp>
        <p:nvSpPr>
          <p:cNvPr id="78" name="P5 predicate label"/>
          <p:cNvSpPr txBox="1"/>
          <p:nvPr/>
        </p:nvSpPr>
        <p:spPr>
          <a:xfrm>
            <a:off x="1627632" y="3044952"/>
            <a:ext cx="384048" cy="137160"/>
          </a:xfrm>
          <a:prstGeom prst="rect">
            <a:avLst/>
          </a:prstGeom>
          <a:noFill/>
        </p:spPr>
        <p:txBody>
          <a:bodyPr wrap="square" anchor="ctr" lIns="9144" rIns="9144" tIns="9144" bIns="9144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450" b="1" i="0">
                <a:solidFill>
                  <a:srgbClr val="B65300"/>
                </a:solidFill>
                <a:latin typeface="Arial"/>
              </a:rPr>
              <a:t>ENHANCES</a:t>
            </a:r>
          </a:p>
        </p:txBody>
      </p:sp>
      <p:sp>
        <p:nvSpPr>
          <p:cNvPr id="79" name="Legend evidence diamond"/>
          <p:cNvSpPr/>
          <p:nvPr/>
        </p:nvSpPr>
        <p:spPr>
          <a:xfrm>
            <a:off x="109728" y="3739896"/>
            <a:ext cx="73152" cy="73152"/>
          </a:xfrm>
          <a:prstGeom prst="diamond">
            <a:avLst/>
          </a:prstGeom>
          <a:solidFill>
            <a:srgbClr val="FFFFFF"/>
          </a:solidFill>
          <a:ln w="7620">
            <a:solidFill>
              <a:srgbClr val="335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" rIns="13716" tIns="13716" bIns="13716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0" name="Legend evidence text"/>
          <p:cNvSpPr txBox="1"/>
          <p:nvPr/>
        </p:nvSpPr>
        <p:spPr>
          <a:xfrm>
            <a:off x="192024" y="3717036"/>
            <a:ext cx="676656" cy="118872"/>
          </a:xfrm>
          <a:prstGeom prst="rect">
            <a:avLst/>
          </a:prstGeom>
          <a:noFill/>
        </p:spPr>
        <p:txBody>
          <a:bodyPr wrap="square" anchor="ctr" lIns="9144" rIns="9144" tIns="9144" bIns="9144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459" b="0" i="0">
                <a:solidFill>
                  <a:srgbClr val="33546E"/>
                </a:solidFill>
                <a:latin typeface="Arial"/>
              </a:rPr>
              <a:t>supporting passage</a:t>
            </a:r>
          </a:p>
        </p:txBody>
      </p:sp>
      <p:sp>
        <p:nvSpPr>
          <p:cNvPr id="81" name="Legend relationship text"/>
          <p:cNvSpPr txBox="1"/>
          <p:nvPr/>
        </p:nvSpPr>
        <p:spPr>
          <a:xfrm>
            <a:off x="109728" y="3877056"/>
            <a:ext cx="1682496" cy="118872"/>
          </a:xfrm>
          <a:prstGeom prst="rect">
            <a:avLst/>
          </a:prstGeom>
          <a:noFill/>
        </p:spPr>
        <p:txBody>
          <a:bodyPr wrap="square" anchor="ctr" lIns="9144" rIns="9144" tIns="9144" bIns="9144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445" b="0" i="0">
                <a:solidFill>
                  <a:srgbClr val="68727C"/>
                </a:solidFill>
                <a:latin typeface="Arial"/>
              </a:rPr>
              <a:t>gray = HAS_OBJECT   |   rust = reported relation</a:t>
            </a:r>
          </a:p>
        </p:txBody>
      </p:sp>
      <p:sp>
        <p:nvSpPr>
          <p:cNvPr id="82" name="Legend shortened-label note"/>
          <p:cNvSpPr txBox="1"/>
          <p:nvPr/>
        </p:nvSpPr>
        <p:spPr>
          <a:xfrm>
            <a:off x="1865376" y="3877056"/>
            <a:ext cx="630936" cy="118872"/>
          </a:xfrm>
          <a:prstGeom prst="rect">
            <a:avLst/>
          </a:prstGeom>
          <a:noFill/>
        </p:spPr>
        <p:txBody>
          <a:bodyPr wrap="square" anchor="ctr" lIns="9144" rIns="9144" tIns="9144" bIns="9144">
            <a:noAutofit/>
          </a:bodyPr>
          <a:lstStyle/>
          <a:p>
            <a:pPr algn="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430" b="0" i="1">
                <a:solidFill>
                  <a:srgbClr val="68727C"/>
                </a:solidFill>
                <a:latin typeface="Arial"/>
              </a:rPr>
              <a:t>labels shortened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